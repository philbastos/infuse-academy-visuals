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Tools: character generated in Magnific (slide 1); visuals built in code (HTML, SVG, Canvas) with Claude (Anthropic); typography Asap; INFUSE Academy palette. Animated version: see the live link.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Tools: character generated in Magnific (slide 1); visuals built in code (HTML, SVG, Canvas) with Claude (Anthropic); typography Asap; INFUSE Academy palette. Animated version: see the live link.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Tools: character generated in Magnific (slide 1); visuals built in code (HTML, SVG, Canvas) with Claude (Anthropic); typography Asap; INFUSE Academy palette. Animated version: see the live link.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Process slide: tools used per visual and why AI.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clean.png"/>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825500" y="635000"/>
            <a:ext cx="254000" cy="25400"/>
          </a:xfrm>
          <a:prstGeom prst="roundRect">
            <a:avLst/>
          </a:prstGeom>
          <a:solidFill>
            <a:srgbClr val="FF4F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1100" y="571500"/>
            <a:ext cx="3175000" cy="190500"/>
          </a:xfrm>
          <a:prstGeom prst="rect">
            <a:avLst/>
          </a:prstGeom>
          <a:noFill/>
        </p:spPr>
        <p:txBody>
          <a:bodyPr wrap="none" lIns="0" rIns="0" tIns="0" bIns="0" anchor="t">
            <a:spAutoFit/>
          </a:bodyPr>
          <a:lstStyle/>
          <a:p>
            <a:pPr algn="l">
              <a:lnSpc>
                <a:spcPts val="1264"/>
              </a:lnSpc>
            </a:pPr>
            <a:r>
              <a:rPr sz="1100" b="1" spc="242">
                <a:solidFill>
                  <a:srgbClr val="FF4F28"/>
                </a:solidFill>
                <a:latin typeface="Asap"/>
              </a:rPr>
              <a:t>01  FIRST STEP</a:t>
            </a:r>
          </a:p>
        </p:txBody>
      </p:sp>
      <p:sp>
        <p:nvSpPr>
          <p:cNvPr id="5" name="TextBox 4"/>
          <p:cNvSpPr txBox="1"/>
          <p:nvPr/>
        </p:nvSpPr>
        <p:spPr>
          <a:xfrm>
            <a:off x="800100" y="952500"/>
            <a:ext cx="5715000" cy="2730500"/>
          </a:xfrm>
          <a:prstGeom prst="rect">
            <a:avLst/>
          </a:prstGeom>
          <a:noFill/>
        </p:spPr>
        <p:txBody>
          <a:bodyPr wrap="none" lIns="0" rIns="0" tIns="0" bIns="0" anchor="t">
            <a:spAutoFit/>
          </a:bodyPr>
          <a:lstStyle/>
          <a:p>
            <a:pPr algn="l">
              <a:lnSpc>
                <a:spcPts val="5304"/>
              </a:lnSpc>
            </a:pPr>
            <a:r>
              <a:rPr sz="5200" b="1" spc="-146">
                <a:solidFill>
                  <a:srgbClr val="021A36"/>
                </a:solidFill>
                <a:latin typeface="Asap"/>
              </a:rPr>
              <a:t>No matter how</a:t>
            </a:r>
          </a:p>
          <a:p>
            <a:pPr algn="l">
              <a:lnSpc>
                <a:spcPts val="5304"/>
              </a:lnSpc>
            </a:pPr>
            <a:r>
              <a:rPr sz="5200" b="1" spc="-146">
                <a:solidFill>
                  <a:srgbClr val="021A36"/>
                </a:solidFill>
                <a:latin typeface="Asap"/>
              </a:rPr>
              <a:t>hard it looks,</a:t>
            </a:r>
          </a:p>
          <a:p>
            <a:pPr algn="l">
              <a:lnSpc>
                <a:spcPts val="5304"/>
              </a:lnSpc>
            </a:pPr>
            <a:r>
              <a:rPr sz="5200" b="1" spc="-146">
                <a:solidFill>
                  <a:srgbClr val="021A36"/>
                </a:solidFill>
                <a:latin typeface="Asap"/>
              </a:rPr>
              <a:t>there is always</a:t>
            </a:r>
          </a:p>
          <a:p>
            <a:pPr algn="l">
              <a:lnSpc>
                <a:spcPts val="5304"/>
              </a:lnSpc>
            </a:pPr>
            <a:r>
              <a:rPr sz="5200" b="1" spc="-146">
                <a:solidFill>
                  <a:srgbClr val="FF4F28"/>
                </a:solidFill>
                <a:latin typeface="Asap"/>
              </a:rPr>
              <a:t>a beginning.</a:t>
            </a:r>
          </a:p>
        </p:txBody>
      </p:sp>
      <p:sp>
        <p:nvSpPr>
          <p:cNvPr id="6" name="TextBox 5"/>
          <p:cNvSpPr txBox="1"/>
          <p:nvPr/>
        </p:nvSpPr>
        <p:spPr>
          <a:xfrm>
            <a:off x="825500" y="6324600"/>
            <a:ext cx="3175000" cy="152400"/>
          </a:xfrm>
          <a:prstGeom prst="rect">
            <a:avLst/>
          </a:prstGeom>
          <a:noFill/>
        </p:spPr>
        <p:txBody>
          <a:bodyPr wrap="none" lIns="0" rIns="0" tIns="0" bIns="0" anchor="t">
            <a:spAutoFit/>
          </a:bodyPr>
          <a:lstStyle/>
          <a:p>
            <a:pPr algn="l">
              <a:lnSpc>
                <a:spcPts val="1092"/>
              </a:lnSpc>
            </a:pPr>
            <a:r>
              <a:rPr sz="950" b="0" spc="38">
                <a:solidFill>
                  <a:srgbClr val="8993A0"/>
                </a:solidFill>
                <a:latin typeface="Asap"/>
              </a:rPr>
              <a:t>INFUSE Academy   </a:t>
            </a:r>
            <a:r>
              <a:rPr sz="950" b="1" spc="38">
                <a:solidFill>
                  <a:srgbClr val="021A36"/>
                </a:solidFill>
                <a:latin typeface="Asap"/>
              </a:rPr>
              <a:t>01 / 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clean.png"/>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698500" y="698500"/>
            <a:ext cx="254000" cy="25400"/>
          </a:xfrm>
          <a:prstGeom prst="roundRect">
            <a:avLst/>
          </a:prstGeom>
          <a:solidFill>
            <a:srgbClr val="78F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4100" y="635000"/>
            <a:ext cx="3810000" cy="190500"/>
          </a:xfrm>
          <a:prstGeom prst="rect">
            <a:avLst/>
          </a:prstGeom>
          <a:noFill/>
        </p:spPr>
        <p:txBody>
          <a:bodyPr wrap="none" lIns="0" rIns="0" tIns="0" bIns="0" anchor="t">
            <a:spAutoFit/>
          </a:bodyPr>
          <a:lstStyle/>
          <a:p>
            <a:pPr algn="l">
              <a:lnSpc>
                <a:spcPts val="1264"/>
              </a:lnSpc>
            </a:pPr>
            <a:r>
              <a:rPr sz="1100" b="1" spc="242">
                <a:solidFill>
                  <a:srgbClr val="78FFD6"/>
                </a:solidFill>
                <a:latin typeface="Asap"/>
              </a:rPr>
              <a:t>02  THE DARK FUNNEL</a:t>
            </a:r>
          </a:p>
        </p:txBody>
      </p:sp>
      <p:sp>
        <p:nvSpPr>
          <p:cNvPr id="5" name="TextBox 4"/>
          <p:cNvSpPr txBox="1"/>
          <p:nvPr/>
        </p:nvSpPr>
        <p:spPr>
          <a:xfrm>
            <a:off x="673100" y="3556000"/>
            <a:ext cx="5715000" cy="825500"/>
          </a:xfrm>
          <a:prstGeom prst="rect">
            <a:avLst/>
          </a:prstGeom>
          <a:noFill/>
        </p:spPr>
        <p:txBody>
          <a:bodyPr wrap="none" lIns="0" rIns="0" tIns="0" bIns="0" anchor="t">
            <a:spAutoFit/>
          </a:bodyPr>
          <a:lstStyle/>
          <a:p>
            <a:pPr algn="l">
              <a:lnSpc>
                <a:spcPts val="2970"/>
              </a:lnSpc>
            </a:pPr>
            <a:r>
              <a:rPr sz="2700" b="1" spc="-40">
                <a:solidFill>
                  <a:srgbClr val="FFFFFF"/>
                </a:solidFill>
                <a:latin typeface="Asap"/>
              </a:rPr>
              <a:t>of the buyer’s journey happens</a:t>
            </a:r>
          </a:p>
          <a:p>
            <a:pPr algn="l">
              <a:lnSpc>
                <a:spcPts val="2970"/>
              </a:lnSpc>
            </a:pPr>
            <a:r>
              <a:rPr sz="2700" b="1" spc="-40">
                <a:solidFill>
                  <a:srgbClr val="FFFFFF"/>
                </a:solidFill>
                <a:latin typeface="Asap"/>
              </a:rPr>
              <a:t>where </a:t>
            </a:r>
            <a:r>
              <a:rPr sz="2700" b="1" spc="-40">
                <a:solidFill>
                  <a:srgbClr val="78FFD6"/>
                </a:solidFill>
                <a:latin typeface="Asap"/>
              </a:rPr>
              <a:t>you cannot see.</a:t>
            </a:r>
          </a:p>
        </p:txBody>
      </p:sp>
      <p:sp>
        <p:nvSpPr>
          <p:cNvPr id="6" name="TextBox 5"/>
          <p:cNvSpPr txBox="1"/>
          <p:nvPr/>
        </p:nvSpPr>
        <p:spPr>
          <a:xfrm>
            <a:off x="6985000" y="736600"/>
            <a:ext cx="3175000" cy="673100"/>
          </a:xfrm>
          <a:prstGeom prst="rect">
            <a:avLst/>
          </a:prstGeom>
          <a:noFill/>
        </p:spPr>
        <p:txBody>
          <a:bodyPr wrap="none" lIns="0" rIns="0" tIns="0" bIns="0" anchor="t">
            <a:spAutoFit/>
          </a:bodyPr>
          <a:lstStyle/>
          <a:p>
            <a:pPr algn="l">
              <a:lnSpc>
                <a:spcPts val="5200"/>
              </a:lnSpc>
            </a:pPr>
            <a:r>
              <a:rPr sz="5200" b="1" spc="-208">
                <a:solidFill>
                  <a:srgbClr val="78FFD6"/>
                </a:solidFill>
                <a:latin typeface="Asap"/>
              </a:rPr>
              <a:t>39%</a:t>
            </a:r>
          </a:p>
        </p:txBody>
      </p:sp>
      <p:sp>
        <p:nvSpPr>
          <p:cNvPr id="7" name="TextBox 6"/>
          <p:cNvSpPr txBox="1"/>
          <p:nvPr/>
        </p:nvSpPr>
        <p:spPr>
          <a:xfrm>
            <a:off x="6985000" y="1447800"/>
            <a:ext cx="4445000" cy="215900"/>
          </a:xfrm>
          <a:prstGeom prst="rect">
            <a:avLst/>
          </a:prstGeom>
          <a:noFill/>
        </p:spPr>
        <p:txBody>
          <a:bodyPr wrap="none" lIns="0" rIns="0" tIns="0" bIns="0" anchor="t">
            <a:spAutoFit/>
          </a:bodyPr>
          <a:lstStyle/>
          <a:p>
            <a:pPr algn="l">
              <a:lnSpc>
                <a:spcPts val="1495"/>
              </a:lnSpc>
            </a:pPr>
            <a:r>
              <a:rPr sz="1300" b="0">
                <a:solidFill>
                  <a:srgbClr val="DCE3EA"/>
                </a:solidFill>
                <a:latin typeface="Asap"/>
              </a:rPr>
              <a:t>is all your dashboard ever shows</a:t>
            </a:r>
          </a:p>
        </p:txBody>
      </p:sp>
      <p:sp>
        <p:nvSpPr>
          <p:cNvPr id="8" name="TextBox 7"/>
          <p:cNvSpPr txBox="1"/>
          <p:nvPr/>
        </p:nvSpPr>
        <p:spPr>
          <a:xfrm>
            <a:off x="6985000" y="1752600"/>
            <a:ext cx="4445000" cy="165100"/>
          </a:xfrm>
          <a:prstGeom prst="rect">
            <a:avLst/>
          </a:prstGeom>
          <a:noFill/>
        </p:spPr>
        <p:txBody>
          <a:bodyPr wrap="none" lIns="0" rIns="0" tIns="0" bIns="0" anchor="t">
            <a:spAutoFit/>
          </a:bodyPr>
          <a:lstStyle/>
          <a:p>
            <a:pPr algn="l">
              <a:lnSpc>
                <a:spcPts val="1035"/>
              </a:lnSpc>
            </a:pPr>
            <a:r>
              <a:rPr sz="900" b="1" spc="144">
                <a:solidFill>
                  <a:srgbClr val="5BC3AA"/>
                </a:solidFill>
                <a:latin typeface="Asap"/>
              </a:rPr>
              <a:t>PRICING PAGE · DEMO REQUEST · FORM FILL</a:t>
            </a:r>
          </a:p>
        </p:txBody>
      </p:sp>
      <p:sp>
        <p:nvSpPr>
          <p:cNvPr id="9" name="TextBox 8"/>
          <p:cNvSpPr txBox="1"/>
          <p:nvPr/>
        </p:nvSpPr>
        <p:spPr>
          <a:xfrm>
            <a:off x="5645150" y="4851400"/>
            <a:ext cx="2032000" cy="127000"/>
          </a:xfrm>
          <a:prstGeom prst="rect">
            <a:avLst/>
          </a:prstGeom>
          <a:noFill/>
        </p:spPr>
        <p:txBody>
          <a:bodyPr wrap="none" lIns="0" rIns="0" tIns="0" bIns="0" anchor="t">
            <a:spAutoFit/>
          </a:bodyPr>
          <a:lstStyle/>
          <a:p>
            <a:pPr algn="ctr">
              <a:lnSpc>
                <a:spcPts val="862"/>
              </a:lnSpc>
            </a:pPr>
            <a:r>
              <a:rPr sz="750" b="1" spc="150">
                <a:solidFill>
                  <a:srgbClr val="62C9AE"/>
                </a:solidFill>
                <a:latin typeface="Asap"/>
              </a:rPr>
              <a:t>YOU START SEEING THEM HERE</a:t>
            </a:r>
          </a:p>
        </p:txBody>
      </p:sp>
      <p:sp>
        <p:nvSpPr>
          <p:cNvPr id="10" name="TextBox 9"/>
          <p:cNvSpPr txBox="1"/>
          <p:nvPr/>
        </p:nvSpPr>
        <p:spPr>
          <a:xfrm>
            <a:off x="9906000" y="3759200"/>
            <a:ext cx="2032000" cy="381000"/>
          </a:xfrm>
          <a:prstGeom prst="rect">
            <a:avLst/>
          </a:prstGeom>
          <a:noFill/>
        </p:spPr>
        <p:txBody>
          <a:bodyPr wrap="none" lIns="0" rIns="0" tIns="0" bIns="0" anchor="t">
            <a:spAutoFit/>
          </a:bodyPr>
          <a:lstStyle/>
          <a:p>
            <a:pPr algn="ctr">
              <a:lnSpc>
                <a:spcPts val="1430"/>
              </a:lnSpc>
            </a:pPr>
            <a:r>
              <a:rPr sz="1100" b="0">
                <a:solidFill>
                  <a:srgbClr val="DCE3EA"/>
                </a:solidFill>
                <a:latin typeface="Asap"/>
              </a:rPr>
              <a:t>They finally</a:t>
            </a:r>
          </a:p>
          <a:p>
            <a:pPr algn="ctr">
              <a:lnSpc>
                <a:spcPts val="1430"/>
              </a:lnSpc>
            </a:pPr>
            <a:r>
              <a:rPr sz="1100" b="0">
                <a:solidFill>
                  <a:srgbClr val="DCE3EA"/>
                </a:solidFill>
                <a:latin typeface="Asap"/>
              </a:rPr>
              <a:t>raise their hand.</a:t>
            </a:r>
          </a:p>
        </p:txBody>
      </p:sp>
      <p:sp>
        <p:nvSpPr>
          <p:cNvPr id="11" name="TextBox 10"/>
          <p:cNvSpPr txBox="1"/>
          <p:nvPr/>
        </p:nvSpPr>
        <p:spPr>
          <a:xfrm>
            <a:off x="698500" y="6350000"/>
            <a:ext cx="3175000" cy="152400"/>
          </a:xfrm>
          <a:prstGeom prst="rect">
            <a:avLst/>
          </a:prstGeom>
          <a:noFill/>
        </p:spPr>
        <p:txBody>
          <a:bodyPr wrap="none" lIns="0" rIns="0" tIns="0" bIns="0" anchor="t">
            <a:spAutoFit/>
          </a:bodyPr>
          <a:lstStyle/>
          <a:p>
            <a:pPr algn="l">
              <a:lnSpc>
                <a:spcPts val="1092"/>
              </a:lnSpc>
            </a:pPr>
            <a:r>
              <a:rPr sz="950" b="0" spc="38">
                <a:solidFill>
                  <a:srgbClr val="7A8591"/>
                </a:solidFill>
                <a:latin typeface="Asap"/>
              </a:rPr>
              <a:t>INFUSE Academy   </a:t>
            </a:r>
            <a:r>
              <a:rPr sz="950" b="1" spc="38">
                <a:solidFill>
                  <a:srgbClr val="FFFFFF"/>
                </a:solidFill>
                <a:latin typeface="Asap"/>
              </a:rPr>
              <a:t>02 / 03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clean.png"/>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508000" y="431800"/>
            <a:ext cx="254000" cy="25400"/>
          </a:xfrm>
          <a:prstGeom prst="roundRect">
            <a:avLst/>
          </a:prstGeom>
          <a:solidFill>
            <a:srgbClr val="FF4F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3600" y="368300"/>
            <a:ext cx="3175000" cy="190500"/>
          </a:xfrm>
          <a:prstGeom prst="rect">
            <a:avLst/>
          </a:prstGeom>
          <a:noFill/>
        </p:spPr>
        <p:txBody>
          <a:bodyPr wrap="none" lIns="0" rIns="0" tIns="0" bIns="0" anchor="t">
            <a:spAutoFit/>
          </a:bodyPr>
          <a:lstStyle/>
          <a:p>
            <a:pPr algn="l">
              <a:lnSpc>
                <a:spcPts val="1264"/>
              </a:lnSpc>
            </a:pPr>
            <a:r>
              <a:rPr sz="1100" b="1" spc="242">
                <a:solidFill>
                  <a:srgbClr val="FF4F28"/>
                </a:solidFill>
                <a:latin typeface="Asap"/>
              </a:rPr>
              <a:t>03  THE SCRIPT</a:t>
            </a:r>
          </a:p>
        </p:txBody>
      </p:sp>
      <p:sp>
        <p:nvSpPr>
          <p:cNvPr id="5" name="TextBox 4"/>
          <p:cNvSpPr txBox="1"/>
          <p:nvPr/>
        </p:nvSpPr>
        <p:spPr>
          <a:xfrm>
            <a:off x="9144000" y="381000"/>
            <a:ext cx="2540000" cy="152400"/>
          </a:xfrm>
          <a:prstGeom prst="rect">
            <a:avLst/>
          </a:prstGeom>
          <a:noFill/>
        </p:spPr>
        <p:txBody>
          <a:bodyPr wrap="none" lIns="0" rIns="0" tIns="0" bIns="0" anchor="t">
            <a:spAutoFit/>
          </a:bodyPr>
          <a:lstStyle/>
          <a:p>
            <a:pPr algn="r">
              <a:lnSpc>
                <a:spcPts val="1092"/>
              </a:lnSpc>
            </a:pPr>
            <a:r>
              <a:rPr sz="950" b="0" spc="38">
                <a:solidFill>
                  <a:srgbClr val="8993A0"/>
                </a:solidFill>
                <a:latin typeface="Asap"/>
              </a:rPr>
              <a:t>INFUSE Academy   </a:t>
            </a:r>
            <a:r>
              <a:rPr sz="950" b="1" spc="38">
                <a:solidFill>
                  <a:srgbClr val="021A36"/>
                </a:solidFill>
                <a:latin typeface="Asap"/>
              </a:rPr>
              <a:t>03 / 03</a:t>
            </a:r>
          </a:p>
        </p:txBody>
      </p:sp>
      <p:sp>
        <p:nvSpPr>
          <p:cNvPr id="6" name="TextBox 5"/>
          <p:cNvSpPr txBox="1"/>
          <p:nvPr/>
        </p:nvSpPr>
        <p:spPr>
          <a:xfrm>
            <a:off x="488950" y="609600"/>
            <a:ext cx="11430000" cy="444500"/>
          </a:xfrm>
          <a:prstGeom prst="rect">
            <a:avLst/>
          </a:prstGeom>
          <a:noFill/>
        </p:spPr>
        <p:txBody>
          <a:bodyPr wrap="none" lIns="0" rIns="0" tIns="0" bIns="0" anchor="t">
            <a:spAutoFit/>
          </a:bodyPr>
          <a:lstStyle/>
          <a:p>
            <a:pPr algn="l">
              <a:lnSpc>
                <a:spcPts val="3080"/>
              </a:lnSpc>
            </a:pPr>
            <a:r>
              <a:rPr sz="2800" b="1" spc="-70">
                <a:solidFill>
                  <a:srgbClr val="021A36"/>
                </a:solidFill>
                <a:latin typeface="Asap"/>
              </a:rPr>
              <a:t>A small gap at the start. </a:t>
            </a:r>
            <a:r>
              <a:rPr sz="2800" b="1" spc="-70">
                <a:solidFill>
                  <a:srgbClr val="FF4F28"/>
                </a:solidFill>
                <a:latin typeface="Asap"/>
              </a:rPr>
              <a:t>A missed opportunity at scale.</a:t>
            </a:r>
          </a:p>
        </p:txBody>
      </p:sp>
      <p:sp>
        <p:nvSpPr>
          <p:cNvPr id="7" name="TextBox 6"/>
          <p:cNvSpPr txBox="1"/>
          <p:nvPr/>
        </p:nvSpPr>
        <p:spPr>
          <a:xfrm>
            <a:off x="736600" y="3683000"/>
            <a:ext cx="3175000" cy="673100"/>
          </a:xfrm>
          <a:prstGeom prst="rect">
            <a:avLst/>
          </a:prstGeom>
          <a:noFill/>
        </p:spPr>
        <p:txBody>
          <a:bodyPr wrap="none" lIns="0" rIns="0" tIns="0" bIns="0" anchor="t">
            <a:spAutoFit/>
          </a:bodyPr>
          <a:lstStyle/>
          <a:p>
            <a:pPr algn="l">
              <a:lnSpc>
                <a:spcPts val="5200"/>
              </a:lnSpc>
            </a:pPr>
            <a:r>
              <a:rPr sz="5200" b="1" spc="-208">
                <a:solidFill>
                  <a:srgbClr val="021A36"/>
                </a:solidFill>
                <a:latin typeface="Asap"/>
              </a:rPr>
              <a:t>100%</a:t>
            </a:r>
            <a:r>
              <a:rPr sz="1100" b="0">
                <a:solidFill>
                  <a:srgbClr val="5B6B7D"/>
                </a:solidFill>
                <a:latin typeface="Asap"/>
              </a:rPr>
              <a:t>  team adoption</a:t>
            </a:r>
          </a:p>
        </p:txBody>
      </p:sp>
      <p:sp>
        <p:nvSpPr>
          <p:cNvPr id="8" name="TextBox 7"/>
          <p:cNvSpPr txBox="1"/>
          <p:nvPr/>
        </p:nvSpPr>
        <p:spPr>
          <a:xfrm>
            <a:off x="736600" y="4432300"/>
            <a:ext cx="3098800" cy="444500"/>
          </a:xfrm>
          <a:prstGeom prst="rect">
            <a:avLst/>
          </a:prstGeom>
          <a:noFill/>
        </p:spPr>
        <p:txBody>
          <a:bodyPr wrap="square" lIns="0" rIns="0" tIns="0" bIns="0" anchor="t">
            <a:spAutoFit/>
          </a:bodyPr>
          <a:lstStyle/>
          <a:p>
            <a:pPr algn="l">
              <a:lnSpc>
                <a:spcPts val="1625"/>
              </a:lnSpc>
            </a:pPr>
            <a:r>
              <a:rPr sz="1250" b="0">
                <a:solidFill>
                  <a:srgbClr val="021A36"/>
                </a:solidFill>
                <a:latin typeface="Asap"/>
              </a:rPr>
              <a:t>The tool is capable. The logic is sound. The goal is compelling.</a:t>
            </a:r>
          </a:p>
        </p:txBody>
      </p:sp>
      <p:sp>
        <p:nvSpPr>
          <p:cNvPr id="9" name="TextBox 8"/>
          <p:cNvSpPr txBox="1"/>
          <p:nvPr/>
        </p:nvSpPr>
        <p:spPr>
          <a:xfrm>
            <a:off x="4546600" y="3683000"/>
            <a:ext cx="3175000" cy="673100"/>
          </a:xfrm>
          <a:prstGeom prst="rect">
            <a:avLst/>
          </a:prstGeom>
          <a:noFill/>
        </p:spPr>
        <p:txBody>
          <a:bodyPr wrap="none" lIns="0" rIns="0" tIns="0" bIns="0" anchor="t">
            <a:spAutoFit/>
          </a:bodyPr>
          <a:lstStyle/>
          <a:p>
            <a:pPr algn="l">
              <a:lnSpc>
                <a:spcPts val="5200"/>
              </a:lnSpc>
            </a:pPr>
            <a:r>
              <a:rPr sz="5200" b="1" spc="-208">
                <a:solidFill>
                  <a:srgbClr val="FF4F28"/>
                </a:solidFill>
                <a:latin typeface="Asap"/>
              </a:rPr>
              <a:t>38%</a:t>
            </a:r>
            <a:r>
              <a:rPr sz="1100" b="0">
                <a:solidFill>
                  <a:srgbClr val="5B6B7D"/>
                </a:solidFill>
                <a:latin typeface="Asap"/>
              </a:rPr>
              <a:t>  team adoption</a:t>
            </a:r>
          </a:p>
        </p:txBody>
      </p:sp>
      <p:sp>
        <p:nvSpPr>
          <p:cNvPr id="10" name="TextBox 9"/>
          <p:cNvSpPr txBox="1"/>
          <p:nvPr/>
        </p:nvSpPr>
        <p:spPr>
          <a:xfrm>
            <a:off x="4546600" y="4432300"/>
            <a:ext cx="3098800" cy="444500"/>
          </a:xfrm>
          <a:prstGeom prst="rect">
            <a:avLst/>
          </a:prstGeom>
          <a:noFill/>
        </p:spPr>
        <p:txBody>
          <a:bodyPr wrap="square" lIns="0" rIns="0" tIns="0" bIns="0" anchor="t">
            <a:spAutoFit/>
          </a:bodyPr>
          <a:lstStyle/>
          <a:p>
            <a:pPr algn="l">
              <a:lnSpc>
                <a:spcPts val="1625"/>
              </a:lnSpc>
            </a:pPr>
            <a:r>
              <a:rPr sz="1250" b="0">
                <a:solidFill>
                  <a:srgbClr val="021A36"/>
                </a:solidFill>
                <a:latin typeface="Asap"/>
              </a:rPr>
              <a:t>Old habits creep back. Nobody raises a flag.</a:t>
            </a:r>
          </a:p>
        </p:txBody>
      </p:sp>
      <p:sp>
        <p:nvSpPr>
          <p:cNvPr id="11" name="TextBox 10"/>
          <p:cNvSpPr txBox="1"/>
          <p:nvPr/>
        </p:nvSpPr>
        <p:spPr>
          <a:xfrm>
            <a:off x="8356600" y="3683000"/>
            <a:ext cx="3175000" cy="673100"/>
          </a:xfrm>
          <a:prstGeom prst="rect">
            <a:avLst/>
          </a:prstGeom>
          <a:noFill/>
        </p:spPr>
        <p:txBody>
          <a:bodyPr wrap="none" lIns="0" rIns="0" tIns="0" bIns="0" anchor="t">
            <a:spAutoFit/>
          </a:bodyPr>
          <a:lstStyle/>
          <a:p>
            <a:pPr algn="l">
              <a:lnSpc>
                <a:spcPts val="5200"/>
              </a:lnSpc>
            </a:pPr>
            <a:r>
              <a:rPr sz="5200" b="1" spc="-208">
                <a:solidFill>
                  <a:srgbClr val="FAFF81"/>
                </a:solidFill>
                <a:latin typeface="Asap"/>
              </a:rPr>
              <a:t>0%</a:t>
            </a:r>
            <a:r>
              <a:rPr sz="1100" b="0">
                <a:solidFill>
                  <a:srgbClr val="9AA3AF"/>
                </a:solidFill>
                <a:latin typeface="Asap"/>
              </a:rPr>
              <a:t>  team adoption</a:t>
            </a:r>
          </a:p>
        </p:txBody>
      </p:sp>
      <p:sp>
        <p:nvSpPr>
          <p:cNvPr id="12" name="TextBox 11"/>
          <p:cNvSpPr txBox="1"/>
          <p:nvPr/>
        </p:nvSpPr>
        <p:spPr>
          <a:xfrm>
            <a:off x="8356600" y="4432300"/>
            <a:ext cx="3098800" cy="444500"/>
          </a:xfrm>
          <a:prstGeom prst="rect">
            <a:avLst/>
          </a:prstGeom>
          <a:noFill/>
        </p:spPr>
        <p:txBody>
          <a:bodyPr wrap="square" lIns="0" rIns="0" tIns="0" bIns="0" anchor="t">
            <a:spAutoFit/>
          </a:bodyPr>
          <a:lstStyle/>
          <a:p>
            <a:pPr algn="l">
              <a:lnSpc>
                <a:spcPts val="1625"/>
              </a:lnSpc>
            </a:pPr>
            <a:r>
              <a:rPr sz="1250" b="0">
                <a:solidFill>
                  <a:srgbClr val="FFFFFF"/>
                </a:solidFill>
                <a:latin typeface="Asap"/>
              </a:rPr>
              <a:t>Nobody is using it. The gap was there on day 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clean.png"/>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698500" y="596900"/>
            <a:ext cx="254000" cy="25400"/>
          </a:xfrm>
          <a:prstGeom prst="roundRect">
            <a:avLst/>
          </a:prstGeom>
          <a:solidFill>
            <a:srgbClr val="FF4F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4100" y="533400"/>
            <a:ext cx="3175000" cy="190500"/>
          </a:xfrm>
          <a:prstGeom prst="rect">
            <a:avLst/>
          </a:prstGeom>
          <a:noFill/>
        </p:spPr>
        <p:txBody>
          <a:bodyPr wrap="none" lIns="0" rIns="0" tIns="0" bIns="0" anchor="t">
            <a:spAutoFit/>
          </a:bodyPr>
          <a:lstStyle/>
          <a:p>
            <a:pPr algn="l">
              <a:lnSpc>
                <a:spcPts val="1264"/>
              </a:lnSpc>
            </a:pPr>
            <a:r>
              <a:rPr sz="1100" b="1" spc="242">
                <a:solidFill>
                  <a:srgbClr val="FF4F28"/>
                </a:solidFill>
                <a:latin typeface="Asap"/>
              </a:rPr>
              <a:t>04  PROCESS</a:t>
            </a:r>
          </a:p>
        </p:txBody>
      </p:sp>
      <p:sp>
        <p:nvSpPr>
          <p:cNvPr id="5" name="TextBox 4"/>
          <p:cNvSpPr txBox="1"/>
          <p:nvPr/>
        </p:nvSpPr>
        <p:spPr>
          <a:xfrm>
            <a:off x="673100" y="787400"/>
            <a:ext cx="6350000" cy="571500"/>
          </a:xfrm>
          <a:prstGeom prst="rect">
            <a:avLst/>
          </a:prstGeom>
          <a:noFill/>
        </p:spPr>
        <p:txBody>
          <a:bodyPr wrap="none" lIns="0" rIns="0" tIns="0" bIns="0" anchor="t">
            <a:spAutoFit/>
          </a:bodyPr>
          <a:lstStyle/>
          <a:p>
            <a:pPr algn="l">
              <a:lnSpc>
                <a:spcPts val="3960"/>
              </a:lnSpc>
            </a:pPr>
            <a:r>
              <a:rPr sz="3600" b="1" spc="-101">
                <a:solidFill>
                  <a:srgbClr val="021A36"/>
                </a:solidFill>
                <a:latin typeface="Asap"/>
              </a:rPr>
              <a:t>Tools &amp; thinking</a:t>
            </a:r>
          </a:p>
        </p:txBody>
      </p:sp>
      <p:sp>
        <p:nvSpPr>
          <p:cNvPr id="6" name="TextBox 5"/>
          <p:cNvSpPr txBox="1"/>
          <p:nvPr/>
        </p:nvSpPr>
        <p:spPr>
          <a:xfrm>
            <a:off x="1358900" y="1943100"/>
            <a:ext cx="2667000" cy="279400"/>
          </a:xfrm>
          <a:prstGeom prst="rect">
            <a:avLst/>
          </a:prstGeom>
          <a:noFill/>
        </p:spPr>
        <p:txBody>
          <a:bodyPr wrap="none" lIns="0" rIns="0" tIns="0" bIns="0" anchor="t">
            <a:spAutoFit/>
          </a:bodyPr>
          <a:lstStyle/>
          <a:p>
            <a:pPr algn="l">
              <a:lnSpc>
                <a:spcPts val="1839"/>
              </a:lnSpc>
            </a:pPr>
            <a:r>
              <a:rPr sz="1600" b="1" spc="-32">
                <a:solidFill>
                  <a:srgbClr val="021A36"/>
                </a:solidFill>
                <a:latin typeface="Asap"/>
              </a:rPr>
              <a:t>A beginning</a:t>
            </a:r>
          </a:p>
        </p:txBody>
      </p:sp>
      <p:sp>
        <p:nvSpPr>
          <p:cNvPr id="7" name="TextBox 6"/>
          <p:cNvSpPr txBox="1"/>
          <p:nvPr/>
        </p:nvSpPr>
        <p:spPr>
          <a:xfrm>
            <a:off x="952500" y="2438400"/>
            <a:ext cx="1905000" cy="139700"/>
          </a:xfrm>
          <a:prstGeom prst="rect">
            <a:avLst/>
          </a:prstGeom>
          <a:noFill/>
        </p:spPr>
        <p:txBody>
          <a:bodyPr wrap="none" lIns="0" rIns="0" tIns="0" bIns="0" anchor="t">
            <a:spAutoFit/>
          </a:bodyPr>
          <a:lstStyle/>
          <a:p>
            <a:pPr algn="l">
              <a:lnSpc>
                <a:spcPts val="919"/>
              </a:lnSpc>
            </a:pPr>
            <a:r>
              <a:rPr sz="800" b="1" spc="144">
                <a:solidFill>
                  <a:srgbClr val="FF4F28"/>
                </a:solidFill>
                <a:latin typeface="Asap"/>
              </a:rPr>
              <a:t>TOOL</a:t>
            </a:r>
          </a:p>
        </p:txBody>
      </p:sp>
      <p:sp>
        <p:nvSpPr>
          <p:cNvPr id="8" name="TextBox 7"/>
          <p:cNvSpPr txBox="1"/>
          <p:nvPr/>
        </p:nvSpPr>
        <p:spPr>
          <a:xfrm>
            <a:off x="952500" y="2603500"/>
            <a:ext cx="2984500" cy="190500"/>
          </a:xfrm>
          <a:prstGeom prst="rect">
            <a:avLst/>
          </a:prstGeom>
          <a:noFill/>
        </p:spPr>
        <p:txBody>
          <a:bodyPr wrap="none" lIns="0" rIns="0" tIns="0" bIns="0" anchor="t">
            <a:spAutoFit/>
          </a:bodyPr>
          <a:lstStyle/>
          <a:p>
            <a:pPr algn="l">
              <a:lnSpc>
                <a:spcPts val="1264"/>
              </a:lnSpc>
            </a:pPr>
            <a:r>
              <a:rPr sz="1100" b="1">
                <a:solidFill>
                  <a:srgbClr val="021A36"/>
                </a:solidFill>
                <a:latin typeface="Asap"/>
              </a:rPr>
              <a:t>Magnific (character) + Claude → code</a:t>
            </a:r>
          </a:p>
        </p:txBody>
      </p:sp>
      <p:sp>
        <p:nvSpPr>
          <p:cNvPr id="9" name="TextBox 8"/>
          <p:cNvSpPr txBox="1"/>
          <p:nvPr/>
        </p:nvSpPr>
        <p:spPr>
          <a:xfrm>
            <a:off x="952500" y="2933700"/>
            <a:ext cx="2921000" cy="1524000"/>
          </a:xfrm>
          <a:prstGeom prst="rect">
            <a:avLst/>
          </a:prstGeom>
          <a:noFill/>
        </p:spPr>
        <p:txBody>
          <a:bodyPr wrap="square" lIns="0" rIns="0" tIns="0" bIns="0" anchor="t">
            <a:spAutoFit/>
          </a:bodyPr>
          <a:lstStyle/>
          <a:p>
            <a:pPr algn="l">
              <a:lnSpc>
                <a:spcPts val="1522"/>
              </a:lnSpc>
            </a:pPr>
            <a:r>
              <a:rPr sz="1050" b="0">
                <a:solidFill>
                  <a:srgbClr val="3A4A5C"/>
                </a:solidFill>
                <a:latin typeface="Asap"/>
              </a:rPr>
              <a:t>The character was generated with AI; the world around her is code. The knot is built from hundreds of random loops so “hard” looks genuinely overwhelming. One orange thread escapes the chaos and ends right at her fingertips: the beginning is always within reach.</a:t>
            </a:r>
          </a:p>
        </p:txBody>
      </p:sp>
      <p:sp>
        <p:nvSpPr>
          <p:cNvPr id="10" name="TextBox 9"/>
          <p:cNvSpPr txBox="1"/>
          <p:nvPr/>
        </p:nvSpPr>
        <p:spPr>
          <a:xfrm>
            <a:off x="5041900" y="1943100"/>
            <a:ext cx="2667000" cy="279400"/>
          </a:xfrm>
          <a:prstGeom prst="rect">
            <a:avLst/>
          </a:prstGeom>
          <a:noFill/>
        </p:spPr>
        <p:txBody>
          <a:bodyPr wrap="none" lIns="0" rIns="0" tIns="0" bIns="0" anchor="t">
            <a:spAutoFit/>
          </a:bodyPr>
          <a:lstStyle/>
          <a:p>
            <a:pPr algn="l">
              <a:lnSpc>
                <a:spcPts val="1839"/>
              </a:lnSpc>
            </a:pPr>
            <a:r>
              <a:rPr sz="1600" b="1" spc="-32">
                <a:solidFill>
                  <a:srgbClr val="021A36"/>
                </a:solidFill>
                <a:latin typeface="Asap"/>
              </a:rPr>
              <a:t>The dark funnel</a:t>
            </a:r>
          </a:p>
        </p:txBody>
      </p:sp>
      <p:sp>
        <p:nvSpPr>
          <p:cNvPr id="11" name="TextBox 10"/>
          <p:cNvSpPr txBox="1"/>
          <p:nvPr/>
        </p:nvSpPr>
        <p:spPr>
          <a:xfrm>
            <a:off x="4635500" y="2438400"/>
            <a:ext cx="1905000" cy="139700"/>
          </a:xfrm>
          <a:prstGeom prst="rect">
            <a:avLst/>
          </a:prstGeom>
          <a:noFill/>
        </p:spPr>
        <p:txBody>
          <a:bodyPr wrap="none" lIns="0" rIns="0" tIns="0" bIns="0" anchor="t">
            <a:spAutoFit/>
          </a:bodyPr>
          <a:lstStyle/>
          <a:p>
            <a:pPr algn="l">
              <a:lnSpc>
                <a:spcPts val="919"/>
              </a:lnSpc>
            </a:pPr>
            <a:r>
              <a:rPr sz="800" b="1" spc="144">
                <a:solidFill>
                  <a:srgbClr val="FF4F28"/>
                </a:solidFill>
                <a:latin typeface="Asap"/>
              </a:rPr>
              <a:t>TOOL</a:t>
            </a:r>
          </a:p>
        </p:txBody>
      </p:sp>
      <p:sp>
        <p:nvSpPr>
          <p:cNvPr id="12" name="TextBox 11"/>
          <p:cNvSpPr txBox="1"/>
          <p:nvPr/>
        </p:nvSpPr>
        <p:spPr>
          <a:xfrm>
            <a:off x="4635500" y="2603500"/>
            <a:ext cx="2984500" cy="190500"/>
          </a:xfrm>
          <a:prstGeom prst="rect">
            <a:avLst/>
          </a:prstGeom>
          <a:noFill/>
        </p:spPr>
        <p:txBody>
          <a:bodyPr wrap="none" lIns="0" rIns="0" tIns="0" bIns="0" anchor="t">
            <a:spAutoFit/>
          </a:bodyPr>
          <a:lstStyle/>
          <a:p>
            <a:pPr algn="l">
              <a:lnSpc>
                <a:spcPts val="1264"/>
              </a:lnSpc>
            </a:pPr>
            <a:r>
              <a:rPr sz="1100" b="1">
                <a:solidFill>
                  <a:srgbClr val="021A36"/>
                </a:solidFill>
                <a:latin typeface="Asap"/>
              </a:rPr>
              <a:t>Claude (Anthropic) → HTML Canvas</a:t>
            </a:r>
          </a:p>
        </p:txBody>
      </p:sp>
      <p:sp>
        <p:nvSpPr>
          <p:cNvPr id="13" name="TextBox 12"/>
          <p:cNvSpPr txBox="1"/>
          <p:nvPr/>
        </p:nvSpPr>
        <p:spPr>
          <a:xfrm>
            <a:off x="4635500" y="2933700"/>
            <a:ext cx="2921000" cy="1524000"/>
          </a:xfrm>
          <a:prstGeom prst="rect">
            <a:avLst/>
          </a:prstGeom>
          <a:noFill/>
        </p:spPr>
        <p:txBody>
          <a:bodyPr wrap="square" lIns="0" rIns="0" tIns="0" bIns="0" anchor="t">
            <a:spAutoFit/>
          </a:bodyPr>
          <a:lstStyle/>
          <a:p>
            <a:pPr algn="l">
              <a:lnSpc>
                <a:spcPts val="1522"/>
              </a:lnSpc>
            </a:pPr>
            <a:r>
              <a:rPr sz="1050" b="0">
                <a:solidFill>
                  <a:srgbClr val="3A4A5C"/>
                </a:solidFill>
                <a:latin typeface="Asap"/>
              </a:rPr>
              <a:t>A statistic is easy to read and easy to forget, so the 61% becomes physical: buyers flow through a funnel and most of their journey happens in the dark. In the live version your cursor is a flashlight, so you literally have to go looking for them.</a:t>
            </a:r>
          </a:p>
        </p:txBody>
      </p:sp>
      <p:sp>
        <p:nvSpPr>
          <p:cNvPr id="14" name="TextBox 13"/>
          <p:cNvSpPr txBox="1"/>
          <p:nvPr/>
        </p:nvSpPr>
        <p:spPr>
          <a:xfrm>
            <a:off x="8724900" y="1943100"/>
            <a:ext cx="2667000" cy="279400"/>
          </a:xfrm>
          <a:prstGeom prst="rect">
            <a:avLst/>
          </a:prstGeom>
          <a:noFill/>
        </p:spPr>
        <p:txBody>
          <a:bodyPr wrap="none" lIns="0" rIns="0" tIns="0" bIns="0" anchor="t">
            <a:spAutoFit/>
          </a:bodyPr>
          <a:lstStyle/>
          <a:p>
            <a:pPr algn="l">
              <a:lnSpc>
                <a:spcPts val="1839"/>
              </a:lnSpc>
            </a:pPr>
            <a:r>
              <a:rPr sz="1600" b="1" spc="-32">
                <a:solidFill>
                  <a:srgbClr val="021A36"/>
                </a:solidFill>
                <a:latin typeface="Asap"/>
              </a:rPr>
              <a:t>The script</a:t>
            </a:r>
          </a:p>
        </p:txBody>
      </p:sp>
      <p:sp>
        <p:nvSpPr>
          <p:cNvPr id="15" name="TextBox 14"/>
          <p:cNvSpPr txBox="1"/>
          <p:nvPr/>
        </p:nvSpPr>
        <p:spPr>
          <a:xfrm>
            <a:off x="8318500" y="2438400"/>
            <a:ext cx="1905000" cy="139700"/>
          </a:xfrm>
          <a:prstGeom prst="rect">
            <a:avLst/>
          </a:prstGeom>
          <a:noFill/>
        </p:spPr>
        <p:txBody>
          <a:bodyPr wrap="none" lIns="0" rIns="0" tIns="0" bIns="0" anchor="t">
            <a:spAutoFit/>
          </a:bodyPr>
          <a:lstStyle/>
          <a:p>
            <a:pPr algn="l">
              <a:lnSpc>
                <a:spcPts val="919"/>
              </a:lnSpc>
            </a:pPr>
            <a:r>
              <a:rPr sz="800" b="1" spc="144">
                <a:solidFill>
                  <a:srgbClr val="FF4F28"/>
                </a:solidFill>
                <a:latin typeface="Asap"/>
              </a:rPr>
              <a:t>TOOL</a:t>
            </a:r>
          </a:p>
        </p:txBody>
      </p:sp>
      <p:sp>
        <p:nvSpPr>
          <p:cNvPr id="16" name="TextBox 15"/>
          <p:cNvSpPr txBox="1"/>
          <p:nvPr/>
        </p:nvSpPr>
        <p:spPr>
          <a:xfrm>
            <a:off x="8318500" y="2603500"/>
            <a:ext cx="2984500" cy="190500"/>
          </a:xfrm>
          <a:prstGeom prst="rect">
            <a:avLst/>
          </a:prstGeom>
          <a:noFill/>
        </p:spPr>
        <p:txBody>
          <a:bodyPr wrap="none" lIns="0" rIns="0" tIns="0" bIns="0" anchor="t">
            <a:spAutoFit/>
          </a:bodyPr>
          <a:lstStyle/>
          <a:p>
            <a:pPr algn="l">
              <a:lnSpc>
                <a:spcPts val="1264"/>
              </a:lnSpc>
            </a:pPr>
            <a:r>
              <a:rPr sz="1100" b="1">
                <a:solidFill>
                  <a:srgbClr val="021A36"/>
                </a:solidFill>
                <a:latin typeface="Asap"/>
              </a:rPr>
              <a:t>Claude (Anthropic) → HTML + SVG</a:t>
            </a:r>
          </a:p>
        </p:txBody>
      </p:sp>
      <p:sp>
        <p:nvSpPr>
          <p:cNvPr id="17" name="TextBox 16"/>
          <p:cNvSpPr txBox="1"/>
          <p:nvPr/>
        </p:nvSpPr>
        <p:spPr>
          <a:xfrm>
            <a:off x="8318500" y="2933700"/>
            <a:ext cx="2921000" cy="1524000"/>
          </a:xfrm>
          <a:prstGeom prst="rect">
            <a:avLst/>
          </a:prstGeom>
          <a:noFill/>
        </p:spPr>
        <p:txBody>
          <a:bodyPr wrap="square" lIns="0" rIns="0" tIns="0" bIns="0" anchor="t">
            <a:spAutoFit/>
          </a:bodyPr>
          <a:lstStyle/>
          <a:p>
            <a:pPr algn="l">
              <a:lnSpc>
                <a:spcPts val="1522"/>
              </a:lnSpc>
            </a:pPr>
            <a:r>
              <a:rPr sz="1050" b="0">
                <a:solidFill>
                  <a:srgbClr val="3A4A5C"/>
                </a:solidFill>
                <a:latin typeface="Asap"/>
              </a:rPr>
              <a:t>The story is about a gap too small to notice. Each panel shows the team drifting away from the platform while one line underneath shows why: a few degrees off on day one becomes a missed opportunity by month six. The panels darken as the story does.</a:t>
            </a:r>
          </a:p>
        </p:txBody>
      </p:sp>
      <p:sp>
        <p:nvSpPr>
          <p:cNvPr id="18" name="TextBox 17"/>
          <p:cNvSpPr txBox="1"/>
          <p:nvPr/>
        </p:nvSpPr>
        <p:spPr>
          <a:xfrm>
            <a:off x="1003300" y="4940300"/>
            <a:ext cx="1905000" cy="139700"/>
          </a:xfrm>
          <a:prstGeom prst="rect">
            <a:avLst/>
          </a:prstGeom>
          <a:noFill/>
        </p:spPr>
        <p:txBody>
          <a:bodyPr wrap="none" lIns="0" rIns="0" tIns="0" bIns="0" anchor="t">
            <a:spAutoFit/>
          </a:bodyPr>
          <a:lstStyle/>
          <a:p>
            <a:pPr algn="l">
              <a:lnSpc>
                <a:spcPts val="919"/>
              </a:lnSpc>
            </a:pPr>
            <a:r>
              <a:rPr sz="800" b="1" spc="144">
                <a:solidFill>
                  <a:srgbClr val="78FFD6"/>
                </a:solidFill>
                <a:latin typeface="Asap"/>
              </a:rPr>
              <a:t>WHY AI</a:t>
            </a:r>
          </a:p>
        </p:txBody>
      </p:sp>
      <p:sp>
        <p:nvSpPr>
          <p:cNvPr id="19" name="TextBox 18"/>
          <p:cNvSpPr txBox="1"/>
          <p:nvPr/>
        </p:nvSpPr>
        <p:spPr>
          <a:xfrm>
            <a:off x="1003300" y="5143500"/>
            <a:ext cx="10185400" cy="698500"/>
          </a:xfrm>
          <a:prstGeom prst="rect">
            <a:avLst/>
          </a:prstGeom>
          <a:noFill/>
        </p:spPr>
        <p:txBody>
          <a:bodyPr wrap="square" lIns="0" rIns="0" tIns="0" bIns="0" anchor="t">
            <a:spAutoFit/>
          </a:bodyPr>
          <a:lstStyle/>
          <a:p>
            <a:pPr algn="l">
              <a:lnSpc>
                <a:spcPts val="1704"/>
              </a:lnSpc>
            </a:pPr>
            <a:r>
              <a:rPr sz="1200" b="0">
                <a:solidFill>
                  <a:srgbClr val="FFFFFF"/>
                </a:solidFill>
                <a:latin typeface="Asap"/>
              </a:rPr>
              <a:t>I generated the character in Magnific, using the INFUSE character sheet as the reference, because a human figure is where AI illustration shines and a flat, limited-palette prompt keeps it on brand. Everything around her — knot, thread, funnel, storyboard — is built in code with Claude, so it stays crisp, animates, and follows the palette exactly.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
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Tools: built in code (HTML, SVG, Canvas) with Claude (Anthropic); typography Asap; INFUSE Academy palette. Animated version: see the live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Tools: built in code (HTML, SVG, Canvas) with Claude (Anthropic); typography Asap; INFUSE Academy palette. Animated version: see the live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Tools: built in code (HTML, SVG, Canvas) with Claude (Anthropic); typography Asap; INFUSE Academy palette. Animated version: see the live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825500" y="774700"/>
            <a:ext cx="254000" cy="25400"/>
          </a:xfrm>
          <a:prstGeom prst="roundRect">
            <a:avLst/>
          </a:prstGeom>
          <a:solidFill>
            <a:srgbClr val="FF4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1100" y="711200"/>
            <a:ext cx="31750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4"/>
              </a:lnSpc>
            </a:pPr>
            <a:r>
              <a:rPr sz="1100" b="1" spc="242">
                <a:solidFill>
                  <a:srgbClr val="FF4F28"/>
                </a:solidFill>
                <a:latin typeface="Asap"/>
              </a:rPr>
              <a:t>01  FIRST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" y="1092200"/>
            <a:ext cx="5715000" cy="273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304"/>
              </a:lnSpc>
            </a:pPr>
            <a:r>
              <a:rPr sz="5200" b="1" spc="-146">
                <a:solidFill>
                  <a:srgbClr val="021A36"/>
                </a:solidFill>
                <a:latin typeface="Asap"/>
              </a:rPr>
              <a:t>No matter how</a:t>
            </a:r>
          </a:p>
          <a:p>
            <a:pPr algn="l">
              <a:lnSpc>
                <a:spcPts val="5304"/>
              </a:lnSpc>
            </a:pPr>
            <a:r>
              <a:rPr sz="5200" b="1" spc="-146">
                <a:solidFill>
                  <a:srgbClr val="021A36"/>
                </a:solidFill>
                <a:latin typeface="Asap"/>
              </a:rPr>
              <a:t>hard it looks,</a:t>
            </a:r>
          </a:p>
          <a:p>
            <a:pPr algn="l">
              <a:lnSpc>
                <a:spcPts val="5304"/>
              </a:lnSpc>
            </a:pPr>
            <a:r>
              <a:rPr sz="5200" b="1" spc="-146">
                <a:solidFill>
                  <a:srgbClr val="021A36"/>
                </a:solidFill>
                <a:latin typeface="Asap"/>
              </a:rPr>
              <a:t>there is always</a:t>
            </a:r>
          </a:p>
          <a:p>
            <a:pPr algn="l">
              <a:lnSpc>
                <a:spcPts val="5304"/>
              </a:lnSpc>
            </a:pPr>
            <a:r>
              <a:rPr sz="5200" b="1" spc="-146">
                <a:solidFill>
                  <a:srgbClr val="FF4F28"/>
                </a:solidFill>
                <a:latin typeface="Asap"/>
              </a:rPr>
              <a:t>a beginning.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5500" y="5549900"/>
            <a:ext cx="25400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1000" b="1" spc="240">
                <a:solidFill>
                  <a:srgbClr val="021A36"/>
                </a:solidFill>
                <a:latin typeface="Asap"/>
              </a:rPr>
              <a:t>START HERE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500" y="6324600"/>
            <a:ext cx="31750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92"/>
              </a:lnSpc>
            </a:pPr>
            <a:r>
              <a:rPr sz="950" b="0" spc="38">
                <a:solidFill>
                  <a:srgbClr val="8993A0"/>
                </a:solidFill>
                <a:latin typeface="Asap"/>
              </a:rPr>
              <a:t>INFUSE Academy   </a:t>
            </a:r>
            <a:r>
              <a:rPr sz="950" b="1" spc="38">
                <a:solidFill>
                  <a:srgbClr val="021A36"/>
                </a:solidFill>
                <a:latin typeface="Asap"/>
              </a:rPr>
              <a:t>01 / 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98500" y="698500"/>
            <a:ext cx="254000" cy="25400"/>
          </a:xfrm>
          <a:prstGeom prst="roundRect">
            <a:avLst/>
          </a:prstGeom>
          <a:solidFill>
            <a:srgbClr val="78F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4100" y="635000"/>
            <a:ext cx="38100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4"/>
              </a:lnSpc>
            </a:pPr>
            <a:r>
              <a:rPr sz="1100" b="1" spc="242">
                <a:solidFill>
                  <a:srgbClr val="78FFD6"/>
                </a:solidFill>
                <a:latin typeface="Asap"/>
              </a:rPr>
              <a:t>02  THE DARK FUNNEL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3100" y="3556000"/>
            <a:ext cx="5715000" cy="825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0"/>
              </a:lnSpc>
            </a:pPr>
            <a:r>
              <a:rPr sz="2700" b="1" spc="-40">
                <a:solidFill>
                  <a:srgbClr val="FFFFFF"/>
                </a:solidFill>
                <a:latin typeface="Asap"/>
              </a:rPr>
              <a:t>of the buyer’s journey happens</a:t>
            </a:r>
          </a:p>
          <a:p>
            <a:pPr algn="l">
              <a:lnSpc>
                <a:spcPts val="2970"/>
              </a:lnSpc>
            </a:pPr>
            <a:r>
              <a:rPr sz="2700" b="1" spc="-40">
                <a:solidFill>
                  <a:srgbClr val="FFFFFF"/>
                </a:solidFill>
                <a:latin typeface="Asap"/>
              </a:rPr>
              <a:t>where </a:t>
            </a:r>
            <a:r>
              <a:rPr sz="2700" b="1" spc="-40">
                <a:solidFill>
                  <a:srgbClr val="78FFD6"/>
                </a:solidFill>
                <a:latin typeface="Asap"/>
              </a:rPr>
              <a:t>you cannot see.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736600"/>
            <a:ext cx="3175000" cy="673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sz="5200" b="1" spc="-208">
                <a:solidFill>
                  <a:srgbClr val="78FFD6"/>
                </a:solidFill>
                <a:latin typeface="Asap"/>
              </a:rPr>
              <a:t>39%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1447800"/>
            <a:ext cx="4445000" cy="2159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5"/>
              </a:lnSpc>
            </a:pPr>
            <a:r>
              <a:rPr sz="1300" b="0">
                <a:solidFill>
                  <a:srgbClr val="DCE3EA"/>
                </a:solidFill>
                <a:latin typeface="Asap"/>
              </a:rPr>
              <a:t>is all your dashboard ever shows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1752600"/>
            <a:ext cx="4445000" cy="165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35"/>
              </a:lnSpc>
            </a:pPr>
            <a:r>
              <a:rPr sz="900" b="1" spc="144">
                <a:solidFill>
                  <a:srgbClr val="5BC3AA"/>
                </a:solidFill>
                <a:latin typeface="Asap"/>
              </a:rPr>
              <a:t>PRICING PAGE · DEMO REQUEST · FORM FILL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5150" y="4851400"/>
            <a:ext cx="2032000" cy="127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862"/>
              </a:lnSpc>
            </a:pPr>
            <a:r>
              <a:rPr sz="750" b="1" spc="150">
                <a:solidFill>
                  <a:srgbClr val="62C9AE"/>
                </a:solidFill>
                <a:latin typeface="Asap"/>
              </a:rPr>
              <a:t>YOU START SEEING THEM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0" y="3759200"/>
            <a:ext cx="2032000" cy="3810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30"/>
              </a:lnSpc>
            </a:pPr>
            <a:r>
              <a:rPr sz="1100" b="0">
                <a:solidFill>
                  <a:srgbClr val="DCE3EA"/>
                </a:solidFill>
                <a:latin typeface="Asap"/>
              </a:rPr>
              <a:t>They finally</a:t>
            </a:r>
          </a:p>
          <a:p>
            <a:pPr algn="ctr">
              <a:lnSpc>
                <a:spcPts val="1430"/>
              </a:lnSpc>
            </a:pPr>
            <a:r>
              <a:rPr sz="1100" b="0">
                <a:solidFill>
                  <a:srgbClr val="DCE3EA"/>
                </a:solidFill>
                <a:latin typeface="Asap"/>
              </a:rPr>
              <a:t>raise their hand.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8500" y="6350000"/>
            <a:ext cx="31750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92"/>
              </a:lnSpc>
            </a:pPr>
            <a:r>
              <a:rPr sz="950" b="0" spc="38">
                <a:solidFill>
                  <a:srgbClr val="7A8591"/>
                </a:solidFill>
                <a:latin typeface="Asap"/>
              </a:rPr>
              <a:t>INFUSE Academy   </a:t>
            </a:r>
            <a:r>
              <a:rPr sz="950" b="1" spc="38">
                <a:solidFill>
                  <a:srgbClr val="FFFFFF"/>
                </a:solidFill>
                <a:latin typeface="Asap"/>
              </a:rPr>
              <a:t>02 / 03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508000" y="431800"/>
            <a:ext cx="254000" cy="25400"/>
          </a:xfrm>
          <a:prstGeom prst="roundRect">
            <a:avLst/>
          </a:prstGeom>
          <a:solidFill>
            <a:srgbClr val="FF4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3600" y="368300"/>
            <a:ext cx="3175000" cy="190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64"/>
              </a:lnSpc>
            </a:pPr>
            <a:r>
              <a:rPr sz="1100" b="1" spc="242">
                <a:solidFill>
                  <a:srgbClr val="FF4F28"/>
                </a:solidFill>
                <a:latin typeface="Asap"/>
              </a:rPr>
              <a:t>03  THE SCRIPT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381000"/>
            <a:ext cx="2540000" cy="152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092"/>
              </a:lnSpc>
            </a:pPr>
            <a:r>
              <a:rPr sz="950" b="0" spc="38">
                <a:solidFill>
                  <a:srgbClr val="8993A0"/>
                </a:solidFill>
                <a:latin typeface="Asap"/>
              </a:rPr>
              <a:t>INFUSE Academy   </a:t>
            </a:r>
            <a:r>
              <a:rPr sz="950" b="1" spc="38">
                <a:solidFill>
                  <a:srgbClr val="021A36"/>
                </a:solidFill>
                <a:latin typeface="Asap"/>
              </a:rPr>
              <a:t>03 /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8950" y="609600"/>
            <a:ext cx="11430000" cy="4445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80"/>
              </a:lnSpc>
            </a:pPr>
            <a:r>
              <a:rPr sz="2800" b="1" spc="-70">
                <a:solidFill>
                  <a:srgbClr val="021A36"/>
                </a:solidFill>
                <a:latin typeface="Asap"/>
              </a:rPr>
              <a:t>A small gap at the start. </a:t>
            </a:r>
            <a:r>
              <a:rPr sz="2800" b="1" spc="-70">
                <a:solidFill>
                  <a:srgbClr val="FF4F28"/>
                </a:solidFill>
                <a:latin typeface="Asap"/>
              </a:rPr>
              <a:t>A missed opportunity at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6600" y="3683000"/>
            <a:ext cx="3175000" cy="673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sz="5200" b="1" spc="-208">
                <a:solidFill>
                  <a:srgbClr val="021A36"/>
                </a:solidFill>
                <a:latin typeface="Asap"/>
              </a:rPr>
              <a:t>100%</a:t>
            </a:r>
            <a:r>
              <a:rPr sz="1100" b="0">
                <a:solidFill>
                  <a:srgbClr val="5B6B7D"/>
                </a:solidFill>
                <a:latin typeface="Asap"/>
              </a:rPr>
              <a:t>  team adoption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6600" y="4432300"/>
            <a:ext cx="30988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0">
                <a:solidFill>
                  <a:srgbClr val="021A36"/>
                </a:solidFill>
                <a:latin typeface="Asap"/>
              </a:rPr>
              <a:t>The tool is capable. The logic is sound. The goal is compelling.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6600" y="3683000"/>
            <a:ext cx="3175000" cy="673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sz="5200" b="1" spc="-208">
                <a:solidFill>
                  <a:srgbClr val="FF4F28"/>
                </a:solidFill>
                <a:latin typeface="Asap"/>
              </a:rPr>
              <a:t>38%</a:t>
            </a:r>
            <a:r>
              <a:rPr sz="1100" b="0">
                <a:solidFill>
                  <a:srgbClr val="5B6B7D"/>
                </a:solidFill>
                <a:latin typeface="Asap"/>
              </a:rPr>
              <a:t>  team adoption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6600" y="4432300"/>
            <a:ext cx="30988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0">
                <a:solidFill>
                  <a:srgbClr val="021A36"/>
                </a:solidFill>
                <a:latin typeface="Asap"/>
              </a:rPr>
              <a:t>Old habits creep back. Nobody raises a flag.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6600" y="3683000"/>
            <a:ext cx="3175000" cy="6731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sz="5200" b="1" spc="-208">
                <a:solidFill>
                  <a:srgbClr val="FAFF81"/>
                </a:solidFill>
                <a:latin typeface="Asap"/>
              </a:rPr>
              <a:t>0%</a:t>
            </a:r>
            <a:r>
              <a:rPr sz="1100" b="0">
                <a:solidFill>
                  <a:srgbClr val="9AA3AF"/>
                </a:solidFill>
                <a:latin typeface="Asap"/>
              </a:rPr>
              <a:t>  team adoption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6600" y="4432300"/>
            <a:ext cx="30988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250" b="0">
                <a:solidFill>
                  <a:srgbClr val="FFFFFF"/>
                </a:solidFill>
                <a:latin typeface="Asap"/>
              </a:rPr>
              <a:t>Nobody is using it. The gap was there on day 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